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Inconsolata" pitchFamily="49" charset="77"/>
      <p:regular r:id="rId18"/>
    </p:embeddedFont>
    <p:embeddedFont>
      <p:font typeface="Krona One" panose="02010605030500060004" pitchFamily="2" charset="77"/>
      <p:regular r:id="rId18"/>
    </p:embeddedFont>
    <p:embeddedFont>
      <p:font typeface="Lexend" pitchFamily="2" charset="77"/>
      <p:regular r:id="rId18"/>
    </p:embeddedFont>
    <p:embeddedFont>
      <p:font typeface="Lexend Bold" pitchFamily="2" charset="77"/>
      <p:regular r:id="rId18"/>
      <p:bold r:id="rId19"/>
    </p:embeddedFont>
    <p:embeddedFont>
      <p:font typeface="Lexend Medium" pitchFamily="2" charset="77"/>
      <p:regular r:id="rId18"/>
    </p:embeddedFont>
    <p:embeddedFont>
      <p:font typeface="Martian Mono" panose="020B0009020000000004" pitchFamily="49" charset="0"/>
      <p:regular r:id="rId18"/>
    </p:embeddedFont>
    <p:embeddedFont>
      <p:font typeface="Martian Mono Medium" panose="020B0009020000000004" pitchFamily="49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NUL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3802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EE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97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97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EE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97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EEE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397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908429" cy="68580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3" name="Text 1"/>
          <p:cNvSpPr/>
          <p:nvPr/>
        </p:nvSpPr>
        <p:spPr>
          <a:xfrm>
            <a:off x="533387" y="643811"/>
            <a:ext cx="741086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000000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DESIGN AND ANALYSIS OF ALGORITHMS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3387" y="987243"/>
            <a:ext cx="5841655" cy="1133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4600" kern="100" spc="-46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Dijkstra's</a:t>
            </a:r>
            <a:endParaRPr lang="en-US" sz="4600" dirty="0"/>
          </a:p>
          <a:p>
            <a:pPr marL="0" indent="0" algn="l">
              <a:lnSpc>
                <a:spcPct val="81000"/>
              </a:lnSpc>
              <a:buNone/>
            </a:pPr>
            <a:r>
              <a:rPr lang="en-US" sz="4600" kern="100" spc="-46" dirty="0">
                <a:solidFill>
                  <a:srgbClr val="000000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Algorithm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33387" y="2389834"/>
            <a:ext cx="584165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3387" y="3486995"/>
            <a:ext cx="5841655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Presented by </a:t>
            </a:r>
            <a:endParaRPr lang="en-US" sz="24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Riddhi Thorat - 25070521246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3387" y="4631690"/>
            <a:ext cx="6927478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Symbiosis Institute of Technology Nagpur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8429" y="0"/>
            <a:ext cx="5282869" cy="6858000"/>
          </a:xfrm>
          <a:prstGeom prst="rect">
            <a:avLst/>
          </a:prstGeom>
          <a:solidFill>
            <a:srgbClr val="E5E2DD"/>
          </a:solidFill>
          <a:ln/>
        </p:spPr>
      </p:sp>
      <p:sp>
        <p:nvSpPr>
          <p:cNvPr id="9" name="Shape 7"/>
          <p:cNvSpPr/>
          <p:nvPr/>
        </p:nvSpPr>
        <p:spPr>
          <a:xfrm>
            <a:off x="7441815" y="2320330"/>
            <a:ext cx="4216096" cy="2217241"/>
          </a:xfrm>
          <a:prstGeom prst="rect">
            <a:avLst/>
          </a:prstGeom>
          <a:solidFill>
            <a:srgbClr val="E8C7C0"/>
          </a:solidFill>
          <a:ln/>
        </p:spPr>
      </p:sp>
      <p:sp>
        <p:nvSpPr>
          <p:cNvPr id="10" name="Text 8"/>
          <p:cNvSpPr/>
          <p:nvPr/>
        </p:nvSpPr>
        <p:spPr>
          <a:xfrm>
            <a:off x="7670310" y="2583240"/>
            <a:ext cx="452138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00000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CORE IDEA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70310" y="2901315"/>
            <a:ext cx="3701759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100" spc="-12" dirty="0">
                <a:solidFill>
                  <a:srgbClr val="000000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Shortest paths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70310" y="3465564"/>
            <a:ext cx="3701759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One greedy choice at a time.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3811"/>
            <a:ext cx="746086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59616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ORIGIN AND LEGACY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4572"/>
            <a:ext cx="6241695" cy="732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2800" kern="100" spc="-14" dirty="0">
                <a:solidFill>
                  <a:srgbClr val="2F333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From a 1956 idea to a classic algorithm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241252"/>
            <a:ext cx="228594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176" y="2035338"/>
            <a:ext cx="5886104" cy="621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Designed in 1956 and published in 1959 by Dutch computer scientist Edsger W. Dijkstra.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163292"/>
            <a:ext cx="228594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5176" y="2989326"/>
            <a:ext cx="5886104" cy="310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He won the Turing Award in 1972.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3776563"/>
            <a:ext cx="228594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5176" y="3570649"/>
            <a:ext cx="5886104" cy="621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Edsger W. Dijkstra Paper Prize in Distributed Computing carries his name.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066773" y="4537039"/>
            <a:ext cx="5784507" cy="621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“Computer Science is no more about computers than astronomy is about telescopes.”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609585" y="4476353"/>
            <a:ext cx="38099" cy="769441"/>
          </a:xfrm>
          <a:prstGeom prst="roundRect">
            <a:avLst>
              <a:gd name="adj" fmla="val 50000"/>
            </a:avLst>
          </a:prstGeom>
          <a:solidFill>
            <a:srgbClr val="2B0AFF"/>
          </a:solidFill>
          <a:ln/>
          <a:effectLst>
            <a:outerShdw blurRad="124460" dist="127" dir="16200000" algn="bl" rotWithShape="0">
              <a:srgbClr val="2B0AFF">
                <a:alpha val="50000"/>
              </a:srgbClr>
            </a:outerShdw>
          </a:effectLst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8013" y="1143099"/>
            <a:ext cx="3500747" cy="4571702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76603" y="6559153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32991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71" dirty="0">
                <a:solidFill>
                  <a:srgbClr val="59616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PROBLEM AND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652561"/>
            <a:ext cx="11249934" cy="37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550" kern="100" spc="-13" dirty="0">
                <a:solidFill>
                  <a:srgbClr val="2F333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Shortest paths, one greedy choice at a time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19308" y="1223248"/>
            <a:ext cx="11524664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Dijkstra solves a single-source shortest path problem.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585" y="2113359"/>
            <a:ext cx="3454115" cy="3096220"/>
          </a:xfrm>
          <a:prstGeom prst="roundRect">
            <a:avLst>
              <a:gd name="adj" fmla="val 443"/>
            </a:avLst>
          </a:prstGeom>
          <a:solidFill>
            <a:srgbClr val="C7DBE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341959"/>
            <a:ext cx="558488" cy="5585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3073936"/>
            <a:ext cx="2939778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kern="100" spc="-9" dirty="0">
                <a:solidFill>
                  <a:srgbClr val="3F454A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Input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8179" y="3516987"/>
            <a:ext cx="2939778" cy="1452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Weighted graph G = {V, E}, non-negative edge weights, and a source vertex.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368492" y="2113359"/>
            <a:ext cx="3454115" cy="3096220"/>
          </a:xfrm>
          <a:prstGeom prst="roundRect">
            <a:avLst>
              <a:gd name="adj" fmla="val 443"/>
            </a:avLst>
          </a:prstGeom>
          <a:solidFill>
            <a:srgbClr val="C7DBE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087" y="2341959"/>
            <a:ext cx="558488" cy="5585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7087" y="3073936"/>
            <a:ext cx="2939778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kern="100" spc="-9" dirty="0">
                <a:solidFill>
                  <a:srgbClr val="3F454A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Output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97087" y="3516987"/>
            <a:ext cx="2939778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Shortest distance from the source to every other vertex.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8127499" y="2113359"/>
            <a:ext cx="3454115" cy="3096220"/>
          </a:xfrm>
          <a:prstGeom prst="roundRect">
            <a:avLst>
              <a:gd name="adj" fmla="val 443"/>
            </a:avLst>
          </a:prstGeom>
          <a:solidFill>
            <a:srgbClr val="C7DBE8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093" y="2341959"/>
            <a:ext cx="558488" cy="5585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56093" y="3073936"/>
            <a:ext cx="2939778" cy="305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kern="100" spc="-9" dirty="0">
                <a:solidFill>
                  <a:srgbClr val="3F454A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Example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8356093" y="3516987"/>
            <a:ext cx="2939778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Cities are vertices; driving distances are edge weights.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609585" y="5438874"/>
            <a:ext cx="10972228" cy="1221780"/>
          </a:xfrm>
          <a:prstGeom prst="roundRect">
            <a:avLst>
              <a:gd name="adj" fmla="val 960"/>
            </a:avLst>
          </a:prstGeom>
          <a:solidFill>
            <a:srgbClr val="D3CCFF"/>
          </a:solidFill>
          <a:ln/>
        </p:spPr>
      </p:sp>
      <p:sp>
        <p:nvSpPr>
          <p:cNvPr id="18" name="Text 13"/>
          <p:cNvSpPr/>
          <p:nvPr/>
        </p:nvSpPr>
        <p:spPr>
          <a:xfrm>
            <a:off x="888680" y="5768658"/>
            <a:ext cx="10356690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Unlike an MST:</a:t>
            </a:r>
            <a:r>
              <a:rPr lang="en-US" sz="22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Dijkstra minimizes distance from one source; an MST minimizes total tree weight.</a:t>
            </a:r>
            <a:endParaRPr lang="en-US" sz="22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6603" y="6559153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9293"/>
            <a:ext cx="11524962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2F333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The workflow: initialize, choose, relax, repeat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506041"/>
            <a:ext cx="6400441" cy="4144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Set source distance to 0; all others to ∞.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Keep a visited set.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Pick unvisited node with smallest distance.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Mark it visited.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5"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Relax every neighbor using d[u] + weight.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6"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Update when the new distance is smaller.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Font typeface="+mj-lt"/>
              <a:buAutoNum type="arabicPeriod" startAt="7"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Repeat until all nodes are visited.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4719" y="1320105"/>
            <a:ext cx="4267093" cy="5028902"/>
          </a:xfrm>
          <a:prstGeom prst="rect">
            <a:avLst/>
          </a:prstGeom>
          <a:solidFill>
            <a:srgbClr val="F4F3F0"/>
          </a:solidFill>
          <a:ln/>
        </p:spPr>
      </p:sp>
      <p:sp>
        <p:nvSpPr>
          <p:cNvPr id="5" name="Text 3"/>
          <p:cNvSpPr/>
          <p:nvPr/>
        </p:nvSpPr>
        <p:spPr>
          <a:xfrm>
            <a:off x="7543314" y="1659215"/>
            <a:ext cx="45909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3F454A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SHORT PSEUDOCODE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43314" y="2165846"/>
            <a:ext cx="3809905" cy="3535462"/>
          </a:xfrm>
          <a:prstGeom prst="roundRect">
            <a:avLst>
              <a:gd name="adj" fmla="val 388"/>
            </a:avLst>
          </a:prstGeom>
          <a:solidFill>
            <a:srgbClr val="F4F3F0"/>
          </a:solidFill>
          <a:ln/>
        </p:spPr>
      </p:sp>
      <p:sp>
        <p:nvSpPr>
          <p:cNvPr id="7" name="Text 5"/>
          <p:cNvSpPr/>
          <p:nvPr/>
        </p:nvSpPr>
        <p:spPr>
          <a:xfrm>
            <a:off x="7908926" y="2490688"/>
            <a:ext cx="3078482" cy="2925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4292E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dist[s] = 0</a:t>
            </a:r>
            <a:endParaRPr lang="en-US" sz="2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4292E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while unvisited:</a:t>
            </a:r>
            <a:endParaRPr lang="en-US" sz="2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4292E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u = minDist()</a:t>
            </a:r>
            <a:endParaRPr lang="en-US" sz="2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4292E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visit(u)</a:t>
            </a:r>
            <a:endParaRPr lang="en-US" sz="2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4292E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for each v:</a:t>
            </a:r>
            <a:endParaRPr lang="en-US" sz="2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400" dirty="0">
                <a:solidFill>
                  <a:srgbClr val="24292E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relax(u, v)</a:t>
            </a:r>
            <a:endParaRPr lang="en-US" sz="2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603" y="6559153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43376"/>
            <a:ext cx="758964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59616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619250"/>
            <a:ext cx="6370478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2F333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Complexity depends on the data structure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956594"/>
          <a:ext cx="6427627" cy="3951983"/>
        </p:xfrm>
        <a:graphic>
          <a:graphicData uri="http://schemas.openxmlformats.org/drawingml/2006/table">
            <a:tbl>
              <a:tblPr/>
              <a:tblGrid>
                <a:gridCol w="2939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01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F454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Implementation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52777" marB="152777" anchor="ctr">
                    <a:lnL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F454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Time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52777" marB="152777" anchor="ctr">
                    <a:lnL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F454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Space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52777" marB="152777" anchor="ctr">
                    <a:lnL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9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F454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Adjacency matrix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74748" marB="174748" anchor="ctr">
                    <a:lnL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F454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O(V²)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74748" marB="174748" anchor="ctr">
                    <a:lnL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F454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O(V)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74748" marB="174748" anchor="ctr">
                    <a:lnL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9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F454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Priority queue / min-heap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74748" marB="174748" anchor="ctr">
                    <a:lnL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F454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O((V + E) log V)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74748" marB="174748" anchor="ctr">
                    <a:lnL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F454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O(V)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74748" marB="174748" anchor="ctr">
                    <a:lnL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2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F454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Sparse-graph shorthand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65223" marB="165223" anchor="ctr">
                    <a:lnL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F454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O(E log V)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65223" marB="165223" anchor="ctr">
                    <a:lnL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400" dirty="0">
                          <a:solidFill>
                            <a:srgbClr val="3F454A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O(V)</a:t>
                      </a:r>
                      <a:endParaRPr lang="en-US" sz="24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65223" marB="165223" anchor="ctr">
                    <a:lnL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370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6023332"/>
            <a:ext cx="6370478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53616D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Use the matrix for dense graphs; use a min-heap to prioritize the next closest vertex.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796" y="2050752"/>
            <a:ext cx="4038301" cy="29936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731" y="2050752"/>
            <a:ext cx="4038301" cy="299362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603" y="6559153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3811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59616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WORKED EXAMPLE · FIRST PASS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258"/>
            <a:ext cx="11474163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2F333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Worked example: the first labels emerge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64049"/>
            <a:ext cx="11524664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Start at A with d(A)=0 and all other distances at ∞.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2710160"/>
            <a:ext cx="10972228" cy="1243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Visit A: relax A→B = 10 and A→C = 3.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Visit C next: improve B to 7; set D to 11 and E to 5.</a:t>
            </a:r>
            <a:endParaRPr lang="en-US" sz="2400" dirty="0"/>
          </a:p>
          <a:p>
            <a:pPr marL="487680" indent="-487680" algn="l">
              <a:lnSpc>
                <a:spcPct val="113000"/>
              </a:lnSpc>
              <a:buSzPct val="100000"/>
              <a:buChar char="•"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Keep the smallest tentative label as the next greedy choice.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93684" y="4795783"/>
            <a:ext cx="3909848" cy="1770063"/>
          </a:xfrm>
          <a:prstGeom prst="roundRect">
            <a:avLst>
              <a:gd name="adj" fmla="val 8780"/>
            </a:avLst>
          </a:prstGeom>
          <a:noFill/>
          <a:ln w="19050">
            <a:solidFill>
              <a:srgbClr val="2B0AFF"/>
            </a:solidFill>
            <a:prstDash val="solid"/>
          </a:ln>
          <a:effectLst>
            <a:outerShdw blurRad="200660" dist="127" dir="16200000" algn="bl" rotWithShape="0">
              <a:srgbClr val="2B0AFF">
                <a:alpha val="4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1100" y="4794250"/>
            <a:ext cx="6266698" cy="17700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20607" y="4775200"/>
            <a:ext cx="3832184" cy="1790646"/>
          </a:xfrm>
          <a:prstGeom prst="roundRect">
            <a:avLst>
              <a:gd name="adj" fmla="val 8780"/>
            </a:avLst>
          </a:prstGeom>
          <a:noFill/>
          <a:ln w="19050">
            <a:solidFill>
              <a:srgbClr val="2B0AFF"/>
            </a:solidFill>
            <a:prstDash val="solid"/>
          </a:ln>
          <a:effectLst>
            <a:outerShdw blurRad="200660" dist="127" dir="16200000" algn="bl" rotWithShape="0">
              <a:srgbClr val="2B0AFF">
                <a:alpha val="4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291" y="4794250"/>
            <a:ext cx="6043957" cy="1770063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603" y="6559153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3811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59616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WORKED EXAMPLE · FINAL PASS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258"/>
            <a:ext cx="11524962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2F333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Worked example: finalize distances and paths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09975"/>
            <a:ext cx="4920928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After C, E, B, and D are selected, every shortest label is final.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2609505"/>
            <a:ext cx="4920928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Final distances from A: A=0, C=3, E=5, B=7, D=9.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9585" y="3609034"/>
            <a:ext cx="4920928" cy="828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Shortest-path tree: A→C, C→E, C→B, B→D.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9585" y="4631690"/>
            <a:ext cx="4920928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 dirty="0">
                <a:solidFill>
                  <a:srgbClr val="58667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predecessor links explain not only how far, but how to reach each destination.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92355" y="3160613"/>
            <a:ext cx="2692134" cy="1569045"/>
          </a:xfrm>
          <a:prstGeom prst="roundRect">
            <a:avLst>
              <a:gd name="adj" fmla="val 11655"/>
            </a:avLst>
          </a:prstGeom>
          <a:noFill/>
          <a:ln w="19050">
            <a:solidFill>
              <a:srgbClr val="2B0AFF"/>
            </a:solidFill>
            <a:prstDash val="solid"/>
          </a:ln>
          <a:effectLst>
            <a:outerShdw blurRad="200660" dist="127" dir="16200000" algn="bl" rotWithShape="0">
              <a:srgbClr val="2B0AFF">
                <a:alpha val="4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404" y="3141563"/>
            <a:ext cx="2654035" cy="1569045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8430" y="3179663"/>
            <a:ext cx="2654234" cy="153094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603" y="6559153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3811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59616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258"/>
            <a:ext cx="10915079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2F333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Applications: maps and routing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641971"/>
            <a:ext cx="5333668" cy="5034955"/>
          </a:xfrm>
          <a:prstGeom prst="roundRect">
            <a:avLst>
              <a:gd name="adj" fmla="val 272"/>
            </a:avLst>
          </a:prstGeom>
          <a:solidFill>
            <a:srgbClr val="C7DBE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1870571"/>
            <a:ext cx="609585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683371"/>
            <a:ext cx="481933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3F454A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Digital mapping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8179" y="3186660"/>
            <a:ext cx="4819331" cy="1657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3F454A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Junctions</a:t>
            </a: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= vertices; </a:t>
            </a:r>
            <a:r>
              <a:rPr lang="en-US" sz="2400" b="1" dirty="0">
                <a:solidFill>
                  <a:srgbClr val="3F454A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roads</a:t>
            </a: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= edges; time or distance = weights. Live traffic triggers recalculation.</a:t>
            </a:r>
            <a:endParaRPr lang="en-US" sz="2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79" y="5030788"/>
            <a:ext cx="2565137" cy="141753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48045" y="1641971"/>
            <a:ext cx="5333668" cy="5034955"/>
          </a:xfrm>
          <a:prstGeom prst="roundRect">
            <a:avLst>
              <a:gd name="adj" fmla="val 272"/>
            </a:avLst>
          </a:prstGeom>
          <a:solidFill>
            <a:srgbClr val="C7DBE8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640" y="1870571"/>
            <a:ext cx="609585" cy="609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76640" y="2683371"/>
            <a:ext cx="481933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3F454A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IP routing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6476640" y="3186660"/>
            <a:ext cx="4819331" cy="1243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3F454A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Routers</a:t>
            </a: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= vertices; network links = edges. OSPF updates routing tables using shortest paths.</a:t>
            </a:r>
            <a:endParaRPr lang="en-US" sz="2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640" y="4950372"/>
            <a:ext cx="2781032" cy="1497954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76603" y="6559153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3811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59616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258"/>
            <a:ext cx="11524962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2F333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Applications: people and telephone networks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641971"/>
            <a:ext cx="5333668" cy="4606330"/>
          </a:xfrm>
          <a:prstGeom prst="roundRect">
            <a:avLst>
              <a:gd name="adj" fmla="val 298"/>
            </a:avLst>
          </a:prstGeom>
          <a:solidFill>
            <a:srgbClr val="C7DBE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527" y="1870571"/>
            <a:ext cx="609585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683371"/>
            <a:ext cx="481933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3F454A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Social networking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8179" y="3186660"/>
            <a:ext cx="4819331" cy="1657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3F454A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People</a:t>
            </a: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are vertices; relationships are edges; degrees of connection support “People You May Know.”</a:t>
            </a:r>
            <a:endParaRPr lang="en-US" sz="2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79" y="4918841"/>
            <a:ext cx="4876480" cy="110085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248045" y="1641971"/>
            <a:ext cx="5333668" cy="4606330"/>
          </a:xfrm>
          <a:prstGeom prst="roundRect">
            <a:avLst>
              <a:gd name="adj" fmla="val 298"/>
            </a:avLst>
          </a:prstGeom>
          <a:solidFill>
            <a:srgbClr val="C7DBE8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087" y="1870571"/>
            <a:ext cx="609585" cy="609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76640" y="2683371"/>
            <a:ext cx="481933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10" dirty="0">
                <a:solidFill>
                  <a:srgbClr val="3F454A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Telephone networks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6476640" y="3186660"/>
            <a:ext cx="4819331" cy="207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3F454A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Towers or exchanges</a:t>
            </a: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are vertices; cables are edges; signal delay is the weight; shortest paths support bandwidth optimization.</a:t>
            </a:r>
            <a:endParaRPr lang="en-US" sz="2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6640" y="5264448"/>
            <a:ext cx="4876480" cy="755253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76603" y="6559153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3811"/>
            <a:ext cx="1155879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59616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WHEN TO USE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61258"/>
            <a:ext cx="10949210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00" kern="100" spc="-14" dirty="0">
                <a:solidFill>
                  <a:srgbClr val="2F333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Use it when weights are non-negative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672292"/>
            <a:ext cx="547455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100" spc="-12" dirty="0">
                <a:solidFill>
                  <a:srgbClr val="3F454A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Advantages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09585" y="2236343"/>
            <a:ext cx="5474555" cy="1657747"/>
          </a:xfrm>
          <a:prstGeom prst="rect">
            <a:avLst/>
          </a:prstGeom>
          <a:noFill/>
          <a:ln/>
        </p:spPr>
        <p:txBody>
          <a:bodyPr wrap="square" lIns="0" tIns="0" rIns="14084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Guaranteed shortest path; works on directed and undirected graphs; finds all destinations in one run; fast with a priority queue.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084140" y="1672292"/>
            <a:ext cx="5474654" cy="396180"/>
          </a:xfrm>
          <a:prstGeom prst="rect">
            <a:avLst/>
          </a:prstGeom>
          <a:noFill/>
          <a:ln/>
        </p:spPr>
        <p:txBody>
          <a:bodyPr wrap="none" lIns="163953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100" spc="-12" dirty="0">
                <a:solidFill>
                  <a:srgbClr val="3F454A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Disadvantages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84140" y="2236343"/>
            <a:ext cx="5474654" cy="2072184"/>
          </a:xfrm>
          <a:prstGeom prst="rect">
            <a:avLst/>
          </a:prstGeom>
          <a:noFill/>
          <a:ln/>
        </p:spPr>
        <p:txBody>
          <a:bodyPr wrap="square" lIns="163953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dirty="0">
                <a:solidFill>
                  <a:srgbClr val="3F454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Fails with negative edges; blind search can explore many nodes; needs O(V) memory; can be slow on dense graphs; must be rerun when the graph changes.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9585" y="5196165"/>
            <a:ext cx="1155879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78" dirty="0">
                <a:solidFill>
                  <a:srgbClr val="59616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TAKEAWAY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585" y="5502731"/>
            <a:ext cx="10949210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100" spc="-12" dirty="0">
                <a:solidFill>
                  <a:srgbClr val="3F454A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Dijkstra turns local greedy choices into globally shortest paths.</a:t>
            </a:r>
            <a:endParaRPr lang="en-US" sz="2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603" y="6559153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84" y="2811666"/>
            <a:ext cx="10972228" cy="104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3400" kern="100" spc="-17" dirty="0">
                <a:solidFill>
                  <a:srgbClr val="2F3337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Thank You</a:t>
            </a:r>
          </a:p>
          <a:p>
            <a:pPr marL="0" indent="0" algn="ctr">
              <a:lnSpc>
                <a:spcPct val="96000"/>
              </a:lnSpc>
              <a:buNone/>
            </a:pPr>
            <a:r>
              <a:rPr lang="en-US" sz="1600" b="1" kern="100" spc="-17" dirty="0">
                <a:solidFill>
                  <a:srgbClr val="2F3337"/>
                </a:solidFill>
                <a:latin typeface="Krona One" pitchFamily="34" charset="0"/>
              </a:rPr>
              <a:t>Made with GAMMA</a:t>
            </a:r>
            <a:endParaRPr lang="en-US" sz="16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603" y="6559153"/>
            <a:ext cx="1071833" cy="255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690</Words>
  <Application>Microsoft Macintosh PowerPoint</Application>
  <PresentationFormat>Widescreen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Martian Mono Medium</vt:lpstr>
      <vt:lpstr>Inconsolata</vt:lpstr>
      <vt:lpstr>Lexend</vt:lpstr>
      <vt:lpstr>Lexend Bold</vt:lpstr>
      <vt:lpstr>Calibri</vt:lpstr>
      <vt:lpstr>Krona One</vt:lpstr>
      <vt:lpstr>Martian Mono</vt:lpstr>
      <vt:lpstr>Arial</vt:lpstr>
      <vt:lpstr>Lexend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Office User</cp:lastModifiedBy>
  <cp:revision>3</cp:revision>
  <dcterms:created xsi:type="dcterms:W3CDTF">2026-10-17T09:09:19Z</dcterms:created>
  <dcterms:modified xsi:type="dcterms:W3CDTF">2026-10-17T09:26:45Z</dcterms:modified>
</cp:coreProperties>
</file>